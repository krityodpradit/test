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6" r:id="rId2"/>
    <p:sldId id="264" r:id="rId3"/>
    <p:sldId id="315" r:id="rId4"/>
    <p:sldId id="320" r:id="rId5"/>
    <p:sldId id="340" r:id="rId6"/>
    <p:sldId id="339" r:id="rId7"/>
    <p:sldId id="317" r:id="rId8"/>
    <p:sldId id="321" r:id="rId9"/>
    <p:sldId id="341" r:id="rId10"/>
    <p:sldId id="336" r:id="rId11"/>
    <p:sldId id="333" r:id="rId12"/>
    <p:sldId id="334" r:id="rId13"/>
    <p:sldId id="343" r:id="rId14"/>
    <p:sldId id="344" r:id="rId15"/>
    <p:sldId id="34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2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54" autoAdjust="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59AA7-BD9A-4B6E-B67D-9F54DA2705C3}" type="datetimeFigureOut">
              <a:rPr lang="en-US" smtClean="0"/>
              <a:t>11/4/2017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9B936-4254-42E2-A962-C46C035A1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47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9B936-4254-42E2-A962-C46C035A1E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62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9B936-4254-42E2-A962-C46C035A1E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45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2415-F310-4110-9A6B-413614631BEE}" type="datetime1">
              <a:rPr lang="en-US" smtClean="0"/>
              <a:t>11/4/2017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1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2245-F0E8-47D1-96AD-989E7E23B3D8}" type="datetime1">
              <a:rPr lang="en-US" smtClean="0"/>
              <a:t>11/4/2017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27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33827-6EB6-4C98-BB88-FB6A64A3F884}" type="datetime1">
              <a:rPr lang="en-US" smtClean="0"/>
              <a:t>11/4/2017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70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ABB65-1492-4F37-8069-4451EEF117BB}" type="datetime1">
              <a:rPr lang="en-US" smtClean="0"/>
              <a:t>11/4/2017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53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6B90-0D37-4904-9A1C-1DBE09416134}" type="datetime1">
              <a:rPr lang="en-US" smtClean="0"/>
              <a:t>11/4/2017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01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9D72-F1C5-4E2A-85D2-C639D8ECD4D6}" type="datetime1">
              <a:rPr lang="en-US" smtClean="0"/>
              <a:t>11/4/2017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04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C6C96-A1D0-46F4-B031-F9CCF77C001C}" type="datetime1">
              <a:rPr lang="en-US" smtClean="0"/>
              <a:t>11/4/2017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4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494D-8CF4-451C-9E12-42D2FFADDA6F}" type="datetime1">
              <a:rPr lang="en-US" smtClean="0"/>
              <a:t>11/4/2017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30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2EE1-8330-469A-8DDF-A50E2D625058}" type="datetime1">
              <a:rPr lang="en-US" smtClean="0"/>
              <a:t>11/4/2017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95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199F6-BEB3-4E2B-9D4C-D65150410B7D}" type="datetime1">
              <a:rPr lang="en-US" smtClean="0"/>
              <a:t>11/4/2017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84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3DE84-616E-4F54-8843-DB31D125F312}" type="datetime1">
              <a:rPr lang="en-US" smtClean="0"/>
              <a:t>11/4/2017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66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CCFC5-8722-46FA-B0AD-9EA9B93758E7}" type="datetime1">
              <a:rPr lang="en-US" smtClean="0"/>
              <a:t>11/4/2017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40AE8-945C-40BD-A168-CEFF52371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4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424935" cy="5904656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An Experimental Study for Semiconductor Loss Reduction in a Voltage Source Inverter under Sinusoidal Carrier-Based PWM Techniques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en-US" dirty="0" err="1" smtClean="0">
                <a:solidFill>
                  <a:schemeClr val="tx1"/>
                </a:solidFill>
              </a:rPr>
              <a:t>Krit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Yodpradit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C:\Users\admin\Desktop\kkk\Important_docs\KU\Kasetsart_university_log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996952"/>
            <a:ext cx="1656184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2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44016"/>
            <a:ext cx="8229600" cy="76470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Power Converter &amp; Efficiency Factors</a:t>
            </a:r>
            <a:endParaRPr 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330419" y="4370328"/>
            <a:ext cx="660866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PE Applications:  Improve Eff. </a:t>
            </a:r>
            <a:r>
              <a:rPr lang="en-US" sz="2400" dirty="0" smtClean="0">
                <a:sym typeface="Wingdings" pitchFamily="2" charset="2"/>
              </a:rPr>
              <a:t> Reduce Size, Cost</a:t>
            </a:r>
          </a:p>
          <a:p>
            <a:pPr marL="285750" indent="-285750">
              <a:buFontTx/>
              <a:buChar char="-"/>
            </a:pPr>
            <a:r>
              <a:rPr lang="en-US" sz="2400" dirty="0" smtClean="0">
                <a:sym typeface="Wingdings" pitchFamily="2" charset="2"/>
              </a:rPr>
              <a:t>Topology</a:t>
            </a:r>
          </a:p>
          <a:p>
            <a:pPr marL="285750" indent="-285750">
              <a:buFontTx/>
              <a:buChar char="-"/>
            </a:pPr>
            <a:r>
              <a:rPr lang="en-US" sz="2400" dirty="0" smtClean="0">
                <a:sym typeface="Wingdings" pitchFamily="2" charset="2"/>
              </a:rPr>
              <a:t>Switch Material</a:t>
            </a:r>
          </a:p>
          <a:p>
            <a:pPr marL="285750" indent="-285750">
              <a:buFontTx/>
              <a:buChar char="-"/>
            </a:pPr>
            <a:r>
              <a:rPr lang="en-US" sz="2400" dirty="0" smtClean="0">
                <a:sym typeface="Wingdings" pitchFamily="2" charset="2"/>
              </a:rPr>
              <a:t>Control Unit</a:t>
            </a:r>
          </a:p>
          <a:p>
            <a:pPr marL="285750" indent="-285750">
              <a:buFontTx/>
              <a:buChar char="-"/>
            </a:pPr>
            <a:r>
              <a:rPr lang="en-US" sz="2400" dirty="0" smtClean="0">
                <a:solidFill>
                  <a:srgbClr val="FF0000"/>
                </a:solidFill>
                <a:sym typeface="Wingdings" pitchFamily="2" charset="2"/>
              </a:rPr>
              <a:t>*PWM Techniques Fed to Turn On &amp; Off Switches</a:t>
            </a:r>
            <a:endParaRPr lang="en-US" sz="2400" dirty="0" smtClean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07378" y="1196752"/>
            <a:ext cx="3032492" cy="108012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Power Converter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9512" y="1196752"/>
            <a:ext cx="2095755" cy="108012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Power Supply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6796725" y="1196752"/>
            <a:ext cx="2095755" cy="108012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Load</a:t>
            </a:r>
            <a:endParaRPr lang="en-US" sz="2800" dirty="0"/>
          </a:p>
        </p:txBody>
      </p:sp>
      <p:cxnSp>
        <p:nvCxnSpPr>
          <p:cNvPr id="7" name="Straight Arrow Connector 6"/>
          <p:cNvCxnSpPr>
            <a:stCxn id="5" idx="3"/>
            <a:endCxn id="3" idx="1"/>
          </p:cNvCxnSpPr>
          <p:nvPr/>
        </p:nvCxnSpPr>
        <p:spPr>
          <a:xfrm>
            <a:off x="2275267" y="1736812"/>
            <a:ext cx="732111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3" idx="3"/>
            <a:endCxn id="6" idx="1"/>
          </p:cNvCxnSpPr>
          <p:nvPr/>
        </p:nvCxnSpPr>
        <p:spPr>
          <a:xfrm>
            <a:off x="6039870" y="1736812"/>
            <a:ext cx="75685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75746" y="2780928"/>
            <a:ext cx="2095755" cy="108012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Control Unit</a:t>
            </a:r>
            <a:endParaRPr lang="en-US" sz="28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418297" y="1736812"/>
            <a:ext cx="0" cy="15841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2" idx="3"/>
          </p:cNvCxnSpPr>
          <p:nvPr/>
        </p:nvCxnSpPr>
        <p:spPr>
          <a:xfrm flipH="1">
            <a:off x="5571501" y="3320988"/>
            <a:ext cx="84679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0"/>
            <a:endCxn id="3" idx="2"/>
          </p:cNvCxnSpPr>
          <p:nvPr/>
        </p:nvCxnSpPr>
        <p:spPr>
          <a:xfrm flipV="1">
            <a:off x="4523624" y="2276872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3" idx="3"/>
            <a:endCxn id="12" idx="1"/>
          </p:cNvCxnSpPr>
          <p:nvPr/>
        </p:nvCxnSpPr>
        <p:spPr>
          <a:xfrm>
            <a:off x="2667550" y="3320988"/>
            <a:ext cx="80819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619672" y="2780928"/>
            <a:ext cx="1047878" cy="108012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PC</a:t>
            </a:r>
            <a:endParaRPr lang="en-US" sz="2800" dirty="0"/>
          </a:p>
        </p:txBody>
      </p:sp>
      <p:sp>
        <p:nvSpPr>
          <p:cNvPr id="24" name="Rectangle 23"/>
          <p:cNvSpPr/>
          <p:nvPr/>
        </p:nvSpPr>
        <p:spPr>
          <a:xfrm>
            <a:off x="2555776" y="2543142"/>
            <a:ext cx="1047878" cy="108012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*PWM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72200" y="2745908"/>
            <a:ext cx="1225224" cy="74124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Feedback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3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16024"/>
            <a:ext cx="8229600" cy="764704"/>
          </a:xfrm>
        </p:spPr>
        <p:txBody>
          <a:bodyPr>
            <a:normAutofit/>
          </a:bodyPr>
          <a:lstStyle/>
          <a:p>
            <a:r>
              <a:rPr lang="en-US" sz="3600" dirty="0"/>
              <a:t>2</a:t>
            </a:r>
            <a:r>
              <a:rPr lang="en-US" sz="3600" dirty="0" smtClean="0"/>
              <a:t> PWM Quality Indicators</a:t>
            </a:r>
            <a:endParaRPr lang="en-US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455" y="1529771"/>
            <a:ext cx="4476017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815586" y="1738514"/>
            <a:ext cx="3528392" cy="93199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Losses = Switching Loss + Conduction Loss</a:t>
            </a:r>
            <a:endParaRPr lang="en-US" sz="20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383" y="3704431"/>
            <a:ext cx="3457575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816063" y="3622109"/>
            <a:ext cx="3528392" cy="93199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Harmonic Distortion</a:t>
            </a:r>
            <a:endParaRPr lang="en-US" sz="2000" dirty="0"/>
          </a:p>
        </p:txBody>
      </p:sp>
      <p:sp>
        <p:nvSpPr>
          <p:cNvPr id="3" name="Oval 2"/>
          <p:cNvSpPr/>
          <p:nvPr/>
        </p:nvSpPr>
        <p:spPr>
          <a:xfrm>
            <a:off x="376648" y="1961819"/>
            <a:ext cx="438939" cy="4680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376648" y="3849976"/>
            <a:ext cx="438939" cy="4680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636678" y="3849976"/>
            <a:ext cx="144016" cy="2340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537050" y="3471431"/>
            <a:ext cx="1611796" cy="465999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fundamental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3</a:t>
            </a:fld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115616" y="1763796"/>
            <a:ext cx="2952328" cy="801107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5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6" grpId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76470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Main Idea</a:t>
            </a:r>
            <a:endParaRPr lang="en-US" sz="3600" dirty="0"/>
          </a:p>
        </p:txBody>
      </p:sp>
      <p:sp>
        <p:nvSpPr>
          <p:cNvPr id="3" name="Rectangle 2"/>
          <p:cNvSpPr/>
          <p:nvPr/>
        </p:nvSpPr>
        <p:spPr>
          <a:xfrm>
            <a:off x="107504" y="4241319"/>
            <a:ext cx="8712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Main Idea:  </a:t>
            </a:r>
            <a:r>
              <a:rPr lang="en-US" dirty="0" smtClean="0"/>
              <a:t>Triangular vs. Inverse-Sinusoidal Carriers 					   Regarding </a:t>
            </a:r>
            <a:r>
              <a:rPr lang="en-US" b="1" dirty="0" smtClean="0"/>
              <a:t>Semiconductor Loss</a:t>
            </a:r>
            <a:r>
              <a:rPr lang="en-US" dirty="0" smtClean="0"/>
              <a:t> </a:t>
            </a:r>
            <a:r>
              <a:rPr lang="en-US" b="1" dirty="0" smtClean="0"/>
              <a:t>&amp;</a:t>
            </a:r>
            <a:r>
              <a:rPr lang="en-US" dirty="0" smtClean="0"/>
              <a:t> </a:t>
            </a:r>
            <a:r>
              <a:rPr lang="en-US" b="1" dirty="0" smtClean="0"/>
              <a:t>%THD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4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7504" y="4942909"/>
            <a:ext cx="8712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Condition	:  Each PWM Has the Same Number of Pulses per Cycle</a:t>
            </a:r>
          </a:p>
          <a:p>
            <a:r>
              <a:rPr lang="en-US" dirty="0"/>
              <a:t>	</a:t>
            </a:r>
            <a:r>
              <a:rPr lang="en-US" dirty="0" smtClean="0"/>
              <a:t>   Under the </a:t>
            </a:r>
            <a:r>
              <a:rPr lang="en-US" dirty="0"/>
              <a:t>S</a:t>
            </a:r>
            <a:r>
              <a:rPr lang="en-US" dirty="0" smtClean="0"/>
              <a:t>ame Current and Voltage</a:t>
            </a:r>
            <a:endParaRPr lang="en-US" dirty="0"/>
          </a:p>
        </p:txBody>
      </p:sp>
      <p:pic>
        <p:nvPicPr>
          <p:cNvPr id="1026" name="Picture 2" descr="C:\Users\admin\Desktop\Aj. Nith\EECON\pics\SPWM.e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88991"/>
            <a:ext cx="4254993" cy="264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admin\Desktop\Aj. Nith\EECON\pics\ISPWM.em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495" y="1288991"/>
            <a:ext cx="4254993" cy="264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323528" y="1063675"/>
            <a:ext cx="8712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Triangular Carrier				Inverse Sinusoidal Carrier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4572000" y="908720"/>
            <a:ext cx="0" cy="302933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12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68760"/>
            <a:ext cx="4302557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97" y="2845356"/>
            <a:ext cx="4315981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97" y="4486605"/>
            <a:ext cx="4322693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283480"/>
            <a:ext cx="4430090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883" y="2899387"/>
            <a:ext cx="4436802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496" y="4467555"/>
            <a:ext cx="4409953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16024"/>
            <a:ext cx="8229600" cy="76470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PWM </a:t>
            </a:r>
            <a:r>
              <a:rPr lang="en-US" sz="3600" dirty="0"/>
              <a:t>T</a:t>
            </a:r>
            <a:r>
              <a:rPr lang="en-US" sz="3600" dirty="0" smtClean="0"/>
              <a:t>echniques</a:t>
            </a:r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35496" y="2270933"/>
            <a:ext cx="3384376" cy="74124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smtClean="0"/>
              <a:t>(a) SPWM (Sinusoidal PWM) 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4464496" y="2270933"/>
            <a:ext cx="4860032" cy="74124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smtClean="0"/>
              <a:t>(d) ISPWM (</a:t>
            </a:r>
            <a:r>
              <a:rPr lang="en-US" sz="1600" dirty="0" smtClean="0"/>
              <a:t>Inverse-Sinusoidal-Carrier </a:t>
            </a:r>
            <a:r>
              <a:rPr lang="en-US" sz="1600" dirty="0" smtClean="0"/>
              <a:t>SPWM) [1]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35496" y="3873157"/>
            <a:ext cx="4464496" cy="74124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smtClean="0"/>
              <a:t>(b) HI-SPWM (Harmonic Injection SPWM)  [2]</a:t>
            </a:r>
            <a:endParaRPr lang="en-US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09320"/>
            <a:ext cx="2133600" cy="365125"/>
          </a:xfrm>
        </p:spPr>
        <p:txBody>
          <a:bodyPr/>
          <a:lstStyle/>
          <a:p>
            <a:fld id="{DEB40AE8-945C-40BD-A168-CEFF52371197}" type="slidenum">
              <a:rPr lang="en-US" smtClean="0"/>
              <a:t>5</a:t>
            </a:fld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5496" y="5476273"/>
            <a:ext cx="4536504" cy="74124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smtClean="0"/>
              <a:t>(c) VF-SPWM (Variable Frequency SPWM) 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4499992" y="3873157"/>
            <a:ext cx="4860032" cy="74124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smtClean="0"/>
              <a:t>(e) HI-ISPWM (Harmonic Injectio</a:t>
            </a:r>
            <a:r>
              <a:rPr lang="en-US" sz="1600" dirty="0"/>
              <a:t>n</a:t>
            </a:r>
            <a:r>
              <a:rPr lang="en-US" sz="1600" dirty="0" smtClean="0"/>
              <a:t> ISPWM)</a:t>
            </a:r>
            <a:endParaRPr lang="en-US" sz="1600" dirty="0"/>
          </a:p>
        </p:txBody>
      </p:sp>
      <p:sp>
        <p:nvSpPr>
          <p:cNvPr id="16" name="Rectangle 15"/>
          <p:cNvSpPr/>
          <p:nvPr/>
        </p:nvSpPr>
        <p:spPr>
          <a:xfrm>
            <a:off x="4499992" y="5476273"/>
            <a:ext cx="4860032" cy="74124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smtClean="0"/>
              <a:t>(f) VF-ISPWM (Variable Frequency ISPWM)</a:t>
            </a:r>
            <a:endParaRPr lang="en-US" sz="1600" dirty="0"/>
          </a:p>
        </p:txBody>
      </p:sp>
      <p:sp>
        <p:nvSpPr>
          <p:cNvPr id="22" name="Rectangle 21"/>
          <p:cNvSpPr/>
          <p:nvPr/>
        </p:nvSpPr>
        <p:spPr>
          <a:xfrm>
            <a:off x="34070" y="5976664"/>
            <a:ext cx="5978090" cy="98072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000" dirty="0"/>
              <a:t>[1] H. M. </a:t>
            </a:r>
            <a:r>
              <a:rPr lang="en-US" sz="1000" dirty="0" err="1"/>
              <a:t>Bassi</a:t>
            </a:r>
            <a:r>
              <a:rPr lang="en-US" sz="1000" dirty="0"/>
              <a:t>, "A Novel PWM Scheme with Two Switching Frequencies and Wider Carrier to Improve the THD in Voltage Source Converters" Ph.D. dissertation, Swanson School Eng., Univ. Pittsburgh, Pittsburgh, PA, 2013</a:t>
            </a:r>
          </a:p>
          <a:p>
            <a:pPr algn="just"/>
            <a:r>
              <a:rPr lang="en-US" sz="1000" dirty="0" smtClean="0"/>
              <a:t>[2] M</a:t>
            </a:r>
            <a:r>
              <a:rPr lang="en-US" sz="1000" dirty="0"/>
              <a:t>. A. Boost and P. D. </a:t>
            </a:r>
            <a:r>
              <a:rPr lang="en-US" sz="1000" dirty="0" err="1"/>
              <a:t>Ziogas</a:t>
            </a:r>
            <a:r>
              <a:rPr lang="en-US" sz="1000" dirty="0"/>
              <a:t>, "State-of-the-art carrier PWM techniques: a critical evaluation," IEEE Transactions on Industry Applications, vol. 24, pp. 271-280, </a:t>
            </a:r>
            <a:r>
              <a:rPr lang="en-US" sz="1000" dirty="0" smtClean="0"/>
              <a:t>1988</a:t>
            </a:r>
          </a:p>
        </p:txBody>
      </p:sp>
    </p:spTree>
    <p:extLst>
      <p:ext uri="{BB962C8B-B14F-4D97-AF65-F5344CB8AC3E}">
        <p14:creationId xmlns:p14="http://schemas.microsoft.com/office/powerpoint/2010/main" val="182932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16024"/>
            <a:ext cx="8229600" cy="76470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Setup and Condition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6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585295"/>
            <a:ext cx="3705225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63" y="1124744"/>
            <a:ext cx="5019675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Oval 7"/>
          <p:cNvSpPr/>
          <p:nvPr/>
        </p:nvSpPr>
        <p:spPr>
          <a:xfrm>
            <a:off x="6025445" y="1254905"/>
            <a:ext cx="648072" cy="43204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149884" y="3356992"/>
            <a:ext cx="438340" cy="37226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44016" y="2966298"/>
            <a:ext cx="2699792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 smtClean="0"/>
              <a:t>Condition	:</a:t>
            </a:r>
          </a:p>
          <a:p>
            <a:pPr>
              <a:spcAft>
                <a:spcPts val="1200"/>
              </a:spcAft>
            </a:pPr>
            <a:r>
              <a:rPr lang="en-US" dirty="0" smtClean="0"/>
              <a:t>      </a:t>
            </a:r>
            <a:r>
              <a:rPr lang="en-US" dirty="0" smtClean="0">
                <a:solidFill>
                  <a:schemeClr val="tx2"/>
                </a:solidFill>
              </a:rPr>
              <a:t>Each PWM Has the Same Number of Pulses per Cycle</a:t>
            </a:r>
          </a:p>
          <a:p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smtClean="0">
                <a:solidFill>
                  <a:schemeClr val="accent2"/>
                </a:solidFill>
              </a:rPr>
              <a:t>Under the </a:t>
            </a:r>
            <a:r>
              <a:rPr lang="en-US" dirty="0">
                <a:solidFill>
                  <a:schemeClr val="accent2"/>
                </a:solidFill>
              </a:rPr>
              <a:t>S</a:t>
            </a:r>
            <a:r>
              <a:rPr lang="en-US" dirty="0" smtClean="0">
                <a:solidFill>
                  <a:schemeClr val="accent2"/>
                </a:solidFill>
              </a:rPr>
              <a:t>ame Fundamental Current and Voltage (m</a:t>
            </a:r>
            <a:r>
              <a:rPr lang="en-US" baseline="-25000" dirty="0" smtClean="0">
                <a:solidFill>
                  <a:schemeClr val="accent2"/>
                </a:solidFill>
              </a:rPr>
              <a:t>a</a:t>
            </a:r>
            <a:r>
              <a:rPr lang="en-US" dirty="0" smtClean="0">
                <a:solidFill>
                  <a:schemeClr val="accent2"/>
                </a:solidFill>
              </a:rPr>
              <a:t> adjusted)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92582" y="1183200"/>
            <a:ext cx="2451418" cy="686297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Observe Loss </a:t>
            </a:r>
          </a:p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through Temperature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01384" y="2996952"/>
            <a:ext cx="2451418" cy="686297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Observe Harmonics </a:t>
            </a:r>
          </a:p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through Current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04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16024"/>
            <a:ext cx="8229600" cy="76470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Case Temperature Measurement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7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69795" y="5246595"/>
            <a:ext cx="2808312" cy="74124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 smtClean="0"/>
              <a:t>By Thermometer</a:t>
            </a:r>
            <a:endParaRPr lang="en-US" sz="3000" dirty="0"/>
          </a:p>
        </p:txBody>
      </p:sp>
      <p:pic>
        <p:nvPicPr>
          <p:cNvPr id="1026" name="Picture 2" descr="C:\Users\admin\Desktop\kkk\Engineering\4th_year\4_year_2nd_semester\Senior Project\datasheets\pictures\IGBT modu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016" y="1616075"/>
            <a:ext cx="6869112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0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76470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Case Temperatures of Selected PWMs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8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326" y="2688678"/>
            <a:ext cx="3867547" cy="218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89" y="1415613"/>
            <a:ext cx="4714875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339752" y="5795972"/>
            <a:ext cx="1289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Time (min)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16200000">
            <a:off x="-941179" y="3304567"/>
            <a:ext cx="2466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Case Temperature (°C)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73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764704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Improvement of Semiconductor Loss Reduction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9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844824"/>
            <a:ext cx="4851762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Left Brace 9"/>
          <p:cNvSpPr/>
          <p:nvPr/>
        </p:nvSpPr>
        <p:spPr>
          <a:xfrm>
            <a:off x="1763688" y="3654625"/>
            <a:ext cx="432048" cy="785738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/>
          <p:cNvSpPr/>
          <p:nvPr/>
        </p:nvSpPr>
        <p:spPr>
          <a:xfrm>
            <a:off x="1767849" y="2798096"/>
            <a:ext cx="432049" cy="736088"/>
          </a:xfrm>
          <a:prstGeom prst="lef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47555" y="3645024"/>
            <a:ext cx="11721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FF0000"/>
                </a:solidFill>
              </a:rPr>
              <a:t>Inverse </a:t>
            </a:r>
          </a:p>
          <a:p>
            <a:pPr algn="ctr"/>
            <a:r>
              <a:rPr lang="en-US" sz="2200" b="1" dirty="0" smtClean="0">
                <a:solidFill>
                  <a:srgbClr val="FF0000"/>
                </a:solidFill>
              </a:rPr>
              <a:t>Sinusoid</a:t>
            </a:r>
            <a:endParaRPr lang="en-US" sz="22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5328" y="2952654"/>
            <a:ext cx="11143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0070C0"/>
                </a:solidFill>
              </a:rPr>
              <a:t>Triangle</a:t>
            </a:r>
            <a:endParaRPr lang="en-US" sz="2200" b="1" dirty="0">
              <a:solidFill>
                <a:srgbClr val="0070C0"/>
              </a:solidFill>
            </a:endParaRPr>
          </a:p>
        </p:txBody>
      </p:sp>
      <p:sp>
        <p:nvSpPr>
          <p:cNvPr id="14" name="Curved Left Arrow 13"/>
          <p:cNvSpPr/>
          <p:nvPr/>
        </p:nvSpPr>
        <p:spPr>
          <a:xfrm>
            <a:off x="7020272" y="2805504"/>
            <a:ext cx="432048" cy="983536"/>
          </a:xfrm>
          <a:prstGeom prst="curvedLeftArrow">
            <a:avLst>
              <a:gd name="adj1" fmla="val 9639"/>
              <a:gd name="adj2" fmla="val 25991"/>
              <a:gd name="adj3" fmla="val 15552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Left Arrow 14"/>
          <p:cNvSpPr/>
          <p:nvPr/>
        </p:nvSpPr>
        <p:spPr>
          <a:xfrm>
            <a:off x="7020272" y="3116590"/>
            <a:ext cx="432048" cy="1008112"/>
          </a:xfrm>
          <a:prstGeom prst="curvedLeftArrow">
            <a:avLst>
              <a:gd name="adj1" fmla="val 9639"/>
              <a:gd name="adj2" fmla="val 25991"/>
              <a:gd name="adj3" fmla="val 1555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urved Left Arrow 15"/>
          <p:cNvSpPr/>
          <p:nvPr/>
        </p:nvSpPr>
        <p:spPr>
          <a:xfrm>
            <a:off x="7020272" y="3424237"/>
            <a:ext cx="432048" cy="936104"/>
          </a:xfrm>
          <a:prstGeom prst="curvedLeftArrow">
            <a:avLst>
              <a:gd name="adj1" fmla="val 9639"/>
              <a:gd name="adj2" fmla="val 25991"/>
              <a:gd name="adj3" fmla="val 1555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95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16024"/>
            <a:ext cx="8229600" cy="76470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Load Current Waveforms &amp; %THDs</a:t>
            </a:r>
            <a:endParaRPr lang="en-US" sz="3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1124744"/>
            <a:ext cx="6505575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91680" y="2167862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THD=3.56%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148064" y="2167862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THD=7.21%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691680" y="403277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THD=4.24%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148064" y="403277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THD=8.11%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691680" y="5881835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THD=4.76%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148064" y="5881835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THD=8.31%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051720" y="2693680"/>
            <a:ext cx="1152128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580112" y="2701300"/>
            <a:ext cx="1152128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979712" y="4581128"/>
            <a:ext cx="1368152" cy="144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472100" y="4581128"/>
            <a:ext cx="1368152" cy="144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403490" y="6448746"/>
            <a:ext cx="1544774" cy="148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785156" y="6418595"/>
            <a:ext cx="1544774" cy="148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7504" y="1619508"/>
            <a:ext cx="1427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SPWM</a:t>
            </a:r>
          </a:p>
          <a:p>
            <a:r>
              <a:rPr lang="en-US" sz="2000" dirty="0" smtClean="0"/>
              <a:t>I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= 1.057 A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35496" y="3501008"/>
            <a:ext cx="14997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HI-SPWM</a:t>
            </a:r>
          </a:p>
          <a:p>
            <a:r>
              <a:rPr lang="en-US" sz="2000" dirty="0"/>
              <a:t>I</a:t>
            </a:r>
            <a:r>
              <a:rPr lang="en-US" sz="2000" baseline="-25000" dirty="0"/>
              <a:t>1</a:t>
            </a:r>
            <a:r>
              <a:rPr lang="en-US" sz="2000" dirty="0"/>
              <a:t> = </a:t>
            </a:r>
            <a:r>
              <a:rPr lang="en-US" sz="2000" dirty="0" smtClean="0"/>
              <a:t>1.059 A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35496" y="5363924"/>
            <a:ext cx="14997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VF-SPWM</a:t>
            </a:r>
          </a:p>
          <a:p>
            <a:r>
              <a:rPr lang="en-US" sz="2000" dirty="0"/>
              <a:t>I</a:t>
            </a:r>
            <a:r>
              <a:rPr lang="en-US" sz="2000" baseline="-25000" dirty="0"/>
              <a:t>1</a:t>
            </a:r>
            <a:r>
              <a:rPr lang="en-US" sz="2000" dirty="0"/>
              <a:t> = </a:t>
            </a:r>
            <a:r>
              <a:rPr lang="en-US" sz="2000" dirty="0" smtClean="0"/>
              <a:t>1.058 A</a:t>
            </a:r>
            <a:endParaRPr 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7668344" y="5363924"/>
            <a:ext cx="1475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VF-ISPWM</a:t>
            </a:r>
          </a:p>
          <a:p>
            <a:r>
              <a:rPr lang="en-US" sz="2000" dirty="0"/>
              <a:t>I</a:t>
            </a:r>
            <a:r>
              <a:rPr lang="en-US" sz="2000" baseline="-25000" dirty="0"/>
              <a:t>1</a:t>
            </a:r>
            <a:r>
              <a:rPr lang="en-US" sz="2000" dirty="0"/>
              <a:t> = </a:t>
            </a:r>
            <a:r>
              <a:rPr lang="en-US" sz="2000" dirty="0" smtClean="0"/>
              <a:t>1.072 A</a:t>
            </a:r>
            <a:endParaRPr lang="en-US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7668344" y="3502590"/>
            <a:ext cx="1475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HI-ISPWM</a:t>
            </a:r>
          </a:p>
          <a:p>
            <a:r>
              <a:rPr lang="en-US" sz="2000" dirty="0"/>
              <a:t>I</a:t>
            </a:r>
            <a:r>
              <a:rPr lang="en-US" sz="2000" baseline="-25000" dirty="0"/>
              <a:t>1</a:t>
            </a:r>
            <a:r>
              <a:rPr lang="en-US" sz="2000" dirty="0"/>
              <a:t> = </a:t>
            </a:r>
            <a:r>
              <a:rPr lang="en-US" sz="2000" dirty="0" smtClean="0"/>
              <a:t>1.068 A</a:t>
            </a:r>
            <a:endParaRPr lang="en-US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7668344" y="1619508"/>
            <a:ext cx="1475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ISPWM</a:t>
            </a:r>
          </a:p>
          <a:p>
            <a:r>
              <a:rPr lang="en-US" sz="2000" dirty="0"/>
              <a:t>I</a:t>
            </a:r>
            <a:r>
              <a:rPr lang="en-US" sz="2000" baseline="-25000" dirty="0"/>
              <a:t>1</a:t>
            </a:r>
            <a:r>
              <a:rPr lang="en-US" sz="2000" dirty="0"/>
              <a:t> = </a:t>
            </a:r>
            <a:r>
              <a:rPr lang="en-US" sz="2000" dirty="0" smtClean="0"/>
              <a:t>1.056 A</a:t>
            </a:r>
            <a:endParaRPr lang="en-US" sz="2000" dirty="0"/>
          </a:p>
        </p:txBody>
      </p:sp>
      <p:sp>
        <p:nvSpPr>
          <p:cNvPr id="22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DEB40AE8-945C-40BD-A168-CEFF5237119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6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44016"/>
            <a:ext cx="8229600" cy="76470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Conclusion</a:t>
            </a:r>
            <a:endParaRPr 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179512" y="1174100"/>
            <a:ext cx="86409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3200" dirty="0" smtClean="0">
                <a:solidFill>
                  <a:schemeClr val="accent2">
                    <a:lumMod val="75000"/>
                  </a:schemeClr>
                </a:solidFill>
              </a:rPr>
              <a:t>Improve </a:t>
            </a:r>
            <a:r>
              <a:rPr lang="en-US" sz="3200" dirty="0" err="1" smtClean="0">
                <a:solidFill>
                  <a:schemeClr val="accent2">
                    <a:lumMod val="75000"/>
                  </a:schemeClr>
                </a:solidFill>
              </a:rPr>
              <a:t>Eff</a:t>
            </a:r>
            <a:r>
              <a:rPr lang="en-US" sz="32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3200" dirty="0" smtClean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 PWM Techniques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Trade Off between Losses and Harmonics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3200" dirty="0" smtClean="0">
                <a:solidFill>
                  <a:schemeClr val="accent6"/>
                </a:solidFill>
              </a:rPr>
              <a:t>Triangular vs. Inverse-Sinusoidal Carriers</a:t>
            </a: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6"/>
                </a:solidFill>
              </a:rPr>
              <a:t>Loss </a:t>
            </a:r>
            <a:r>
              <a:rPr lang="en-US" sz="2400" dirty="0" smtClean="0">
                <a:solidFill>
                  <a:schemeClr val="accent6"/>
                </a:solidFill>
                <a:sym typeface="Wingdings" pitchFamily="2" charset="2"/>
              </a:rPr>
              <a:t> Inverse sinusoid is better</a:t>
            </a:r>
            <a:endParaRPr lang="en-US" sz="2400" dirty="0" smtClean="0">
              <a:solidFill>
                <a:schemeClr val="accent6"/>
              </a:solidFill>
            </a:endParaRP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F022E1"/>
                </a:solidFill>
              </a:rPr>
              <a:t>Careful PWM Selection Depends on Applications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5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88768"/>
            <a:ext cx="6400800" cy="1752600"/>
          </a:xfrm>
        </p:spPr>
        <p:txBody>
          <a:bodyPr>
            <a:normAutofit/>
          </a:bodyPr>
          <a:lstStyle/>
          <a:p>
            <a:r>
              <a:rPr lang="en-US" sz="3800" dirty="0" smtClean="0">
                <a:solidFill>
                  <a:schemeClr val="tx1"/>
                </a:solidFill>
              </a:rPr>
              <a:t>Any questions?</a:t>
            </a:r>
            <a:endParaRPr lang="en-US" sz="3800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1180703"/>
            <a:ext cx="5143500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0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44016"/>
            <a:ext cx="8229600" cy="76470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Losses in Semiconductor Devices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13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012279"/>
            <a:ext cx="6496050" cy="515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34070" y="6237312"/>
            <a:ext cx="5978090" cy="54868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000" dirty="0"/>
              <a:t>M. C. D. Piazza, M. </a:t>
            </a:r>
            <a:r>
              <a:rPr lang="en-US" sz="1000" dirty="0" err="1"/>
              <a:t>Pucci</a:t>
            </a:r>
            <a:r>
              <a:rPr lang="en-US" sz="1000" dirty="0"/>
              <a:t>, and G. Vitale, "Efficiency modeling in voltage source inverters with several PWM techniques: A unified approach," in IECON 2013 - 39th Annual Conference of the IEEE Industrial Electronics Society, 2013, pp. 700-705.</a:t>
            </a:r>
          </a:p>
        </p:txBody>
      </p:sp>
    </p:spTree>
    <p:extLst>
      <p:ext uri="{BB962C8B-B14F-4D97-AF65-F5344CB8AC3E}">
        <p14:creationId xmlns:p14="http://schemas.microsoft.com/office/powerpoint/2010/main" val="106965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360040"/>
            <a:ext cx="8229600" cy="764704"/>
          </a:xfrm>
        </p:spPr>
        <p:txBody>
          <a:bodyPr>
            <a:normAutofit/>
          </a:bodyPr>
          <a:lstStyle/>
          <a:p>
            <a:r>
              <a:rPr lang="en-US" sz="3600" dirty="0" err="1" smtClean="0"/>
              <a:t>Cauer’s</a:t>
            </a:r>
            <a:r>
              <a:rPr lang="en-US" sz="3600" dirty="0" smtClean="0"/>
              <a:t> Thermal </a:t>
            </a:r>
            <a:r>
              <a:rPr lang="en-US" sz="3600" dirty="0"/>
              <a:t>Impedance Model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40AE8-945C-40BD-A168-CEFF52371197}" type="slidenum">
              <a:rPr lang="en-US" smtClean="0"/>
              <a:t>14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2224088"/>
            <a:ext cx="680085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34070" y="5805264"/>
            <a:ext cx="5978090" cy="115212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000" dirty="0"/>
              <a:t>R. Wu, H. Wang, K. B. Pedersen, K. Ma, P. </a:t>
            </a:r>
            <a:r>
              <a:rPr lang="en-US" sz="1000" dirty="0" err="1"/>
              <a:t>Ghimire</a:t>
            </a:r>
            <a:r>
              <a:rPr lang="en-US" sz="1000" dirty="0"/>
              <a:t>, F. </a:t>
            </a:r>
            <a:r>
              <a:rPr lang="en-US" sz="1000" dirty="0" err="1"/>
              <a:t>Iannuzzo</a:t>
            </a:r>
            <a:r>
              <a:rPr lang="en-US" sz="1000" dirty="0"/>
              <a:t>, et al., "A Temperature-Dependent Thermal Model of IGBT Modules Suitable for Circuit-Level Simulations," IEEE Transactions on Industry Applications, vol. 52, pp. 3306-3314, 2016</a:t>
            </a:r>
            <a:r>
              <a:rPr lang="en-US" sz="1000" dirty="0" smtClean="0"/>
              <a:t>.</a:t>
            </a:r>
          </a:p>
          <a:p>
            <a:pPr algn="just"/>
            <a:r>
              <a:rPr lang="en-US" sz="1000" dirty="0"/>
              <a:t>O. </a:t>
            </a:r>
            <a:r>
              <a:rPr lang="en-US" sz="1000" dirty="0" err="1"/>
              <a:t>Alavi</a:t>
            </a:r>
            <a:r>
              <a:rPr lang="en-US" sz="1000" dirty="0"/>
              <a:t>, M. </a:t>
            </a:r>
            <a:r>
              <a:rPr lang="en-US" sz="1000" dirty="0" err="1"/>
              <a:t>Abdollah</a:t>
            </a:r>
            <a:r>
              <a:rPr lang="en-US" sz="1000" dirty="0"/>
              <a:t>, and A. H. </a:t>
            </a:r>
            <a:r>
              <a:rPr lang="en-US" sz="1000" dirty="0" err="1"/>
              <a:t>Viki</a:t>
            </a:r>
            <a:r>
              <a:rPr lang="en-US" sz="1000" dirty="0"/>
              <a:t>, "Assessment of thermal network models for estimating IGBT junction temperature of a buck converter," in 2017 8th Power Electronics, Drive Systems &amp; Technologies Conference (PEDSTC), 2017, pp. 102-107.</a:t>
            </a:r>
          </a:p>
          <a:p>
            <a:pPr algn="just"/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042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16024"/>
            <a:ext cx="8229600" cy="76470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All Case Temperature Results</a:t>
            </a:r>
            <a:endParaRPr lang="en-US" sz="3600" dirty="0"/>
          </a:p>
        </p:txBody>
      </p:sp>
      <p:sp>
        <p:nvSpPr>
          <p:cNvPr id="22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DEB40AE8-945C-40BD-A168-CEFF52371197}" type="slidenum">
              <a:rPr lang="en-US" smtClean="0"/>
              <a:t>15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218778"/>
            <a:ext cx="5400675" cy="516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003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6078</TotalTime>
  <Words>547</Words>
  <Application>Microsoft Office PowerPoint</Application>
  <PresentationFormat>On-screen Show (4:3)</PresentationFormat>
  <Paragraphs>106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 Converter &amp; Efficiency Factors</vt:lpstr>
      <vt:lpstr>2 PWM Quality Indicators</vt:lpstr>
      <vt:lpstr>Main Idea</vt:lpstr>
      <vt:lpstr>PWM Techniques</vt:lpstr>
      <vt:lpstr>Setup and Condition</vt:lpstr>
      <vt:lpstr>Case Temperature Measurement</vt:lpstr>
      <vt:lpstr>Case Temperatures of Selected PWMs</vt:lpstr>
      <vt:lpstr>Improvement of Semiconductor Loss Reduction</vt:lpstr>
      <vt:lpstr>Load Current Waveforms &amp; %THDs</vt:lpstr>
      <vt:lpstr>Conclusion</vt:lpstr>
      <vt:lpstr>PowerPoint Presentation</vt:lpstr>
      <vt:lpstr>Losses in Semiconductor Devices</vt:lpstr>
      <vt:lpstr>Cauer’s Thermal Impedance Model</vt:lpstr>
      <vt:lpstr>All Case Temperature Results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188</cp:revision>
  <dcterms:created xsi:type="dcterms:W3CDTF">2017-02-12T09:52:03Z</dcterms:created>
  <dcterms:modified xsi:type="dcterms:W3CDTF">2017-11-04T08:08:59Z</dcterms:modified>
</cp:coreProperties>
</file>